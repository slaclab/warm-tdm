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2" r:id="rId7"/>
  </p:sldMasterIdLst>
  <p:notesMasterIdLst>
    <p:notesMasterId r:id="rId8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</p:sldIdLst>
  <p:sldSz cy="6858000" cx="12192000"/>
  <p:notesSz cx="6950075" cy="9236075"/>
  <p:embeddedFontLst>
    <p:embeddedFont>
      <p:font typeface="Lato"/>
      <p:regular r:id="rId56"/>
      <p:bold r:id="rId57"/>
      <p:italic r:id="rId58"/>
      <p:boldItalic r:id="rId59"/>
    </p:embeddedFont>
    <p:embeddedFont>
      <p:font typeface="Montserrat"/>
      <p:regular r:id="rId60"/>
      <p:bold r:id="rId61"/>
      <p:italic r:id="rId62"/>
      <p:boldItalic r:id="rId63"/>
    </p:embeddedFont>
    <p:embeddedFont>
      <p:font typeface="Lato Black"/>
      <p:bold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04">
          <p15:clr>
            <a:srgbClr val="A4A3A4"/>
          </p15:clr>
        </p15:guide>
        <p15:guide id="4" orient="horz" pos="1176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rYoko3L1Ood2AmfyMP4rDTUN5v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ng Wang"/>
  <p:cmAuthor clrIdx="1" id="1" initials="" lastIdx="1" name="Kuktae Ki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E04851-F2F6-4310-837F-7F7817371104}">
  <a:tblStyle styleId="{40E04851-F2F6-4310-837F-7F781737110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04"/>
        <p:guide pos="1176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56" Type="http://schemas.openxmlformats.org/officeDocument/2006/relationships/font" Target="fonts/Lato-regular.fntdata"/><Relationship Id="rId57" Type="http://schemas.openxmlformats.org/officeDocument/2006/relationships/font" Target="fonts/Lato-bold.fntdata"/><Relationship Id="rId58" Type="http://schemas.openxmlformats.org/officeDocument/2006/relationships/font" Target="fonts/Lato-italic.fntdata"/><Relationship Id="rId59" Type="http://schemas.openxmlformats.org/officeDocument/2006/relationships/font" Target="fonts/Lato-boldItalic.fntdata"/><Relationship Id="rId60" Type="http://schemas.openxmlformats.org/officeDocument/2006/relationships/font" Target="fonts/Montserrat-regular.fntdata"/><Relationship Id="rId61" Type="http://schemas.openxmlformats.org/officeDocument/2006/relationships/font" Target="fonts/Montserrat-bold.fntdata"/><Relationship Id="rId62" Type="http://schemas.openxmlformats.org/officeDocument/2006/relationships/font" Target="fonts/Montserrat-italic.fntdata"/><Relationship Id="rId63" Type="http://schemas.openxmlformats.org/officeDocument/2006/relationships/font" Target="fonts/Montserrat-boldItalic.fntdata"/><Relationship Id="rId64" Type="http://schemas.openxmlformats.org/officeDocument/2006/relationships/font" Target="fonts/LatoBlack-bold.fntdata"/><Relationship Id="rId65" Type="http://schemas.openxmlformats.org/officeDocument/2006/relationships/font" Target="fonts/LatoBlack-boldItalic.fntdata"/><Relationship Id="rId6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1699" cy="463408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6768" y="0"/>
            <a:ext cx="3011699" cy="463408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669"/>
            <a:ext cx="3011699" cy="463407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B - Printable" showMasterSp="0">
  <p:cSld name="Title Slide - Option 4B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0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" name="Google Shape;15;p60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60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0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Option 4C - Printable" showMasterSp="0">
  <p:cSld name="1_Title Slide - Option 4C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5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" name="Google Shape;23;p65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65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" name="Google Shape;2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1" showMasterSp="0">
  <p:cSld name="Title Slide - Option 1">
    <p:bg>
      <p:bgPr>
        <a:gradFill>
          <a:gsLst>
            <a:gs pos="0">
              <a:srgbClr val="E04F39"/>
            </a:gs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8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2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3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4" type="body"/>
          </p:nvPr>
        </p:nvSpPr>
        <p:spPr>
          <a:xfrm>
            <a:off x="800100" y="4306401"/>
            <a:ext cx="51997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None/>
              <a:defRPr b="1" i="0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68"/>
          <p:cNvCxnSpPr/>
          <p:nvPr/>
        </p:nvCxnSpPr>
        <p:spPr>
          <a:xfrm>
            <a:off x="800100" y="3762332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2" showMasterSp="0">
  <p:cSld name="Title Slide - Option 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cean floor&#10;&#10;Description automatically generated" id="38" name="Google Shape;3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9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2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4D1D1"/>
              </a:buClr>
              <a:buSzPts val="2800"/>
              <a:buFont typeface="Lato"/>
              <a:buNone/>
              <a:defRPr sz="2800">
                <a:solidFill>
                  <a:srgbClr val="D4D1D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9"/>
          <p:cNvSpPr txBox="1"/>
          <p:nvPr>
            <p:ph idx="3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9"/>
          <p:cNvSpPr txBox="1"/>
          <p:nvPr>
            <p:ph idx="4" type="body"/>
          </p:nvPr>
        </p:nvSpPr>
        <p:spPr>
          <a:xfrm>
            <a:off x="800100" y="4306401"/>
            <a:ext cx="51997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4D1D1"/>
              </a:buClr>
              <a:buSzPts val="1600"/>
              <a:buFont typeface="Lato"/>
              <a:buNone/>
              <a:defRPr b="1" i="0" sz="1600">
                <a:solidFill>
                  <a:srgbClr val="D4D1D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" name="Google Shape;4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69"/>
          <p:cNvCxnSpPr/>
          <p:nvPr/>
        </p:nvCxnSpPr>
        <p:spPr>
          <a:xfrm>
            <a:off x="800100" y="3762332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Option 3">
  <p:cSld name="1_Title Slide - Option 3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0CECE"/>
          </a:solidFill>
          <a:ln>
            <a:noFill/>
          </a:ln>
        </p:spPr>
      </p:sp>
      <p:sp>
        <p:nvSpPr>
          <p:cNvPr id="48" name="Google Shape;48;p70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3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4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5" type="body"/>
          </p:nvPr>
        </p:nvSpPr>
        <p:spPr>
          <a:xfrm>
            <a:off x="800099" y="4306401"/>
            <a:ext cx="75634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None/>
              <a:defRPr b="1" i="0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6" type="body"/>
          </p:nvPr>
        </p:nvSpPr>
        <p:spPr>
          <a:xfrm>
            <a:off x="9347200" y="6156325"/>
            <a:ext cx="2006600" cy="33655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0"/>
          <p:cNvSpPr txBox="1"/>
          <p:nvPr>
            <p:ph idx="7" type="body"/>
          </p:nvPr>
        </p:nvSpPr>
        <p:spPr>
          <a:xfrm>
            <a:off x="800099" y="3740943"/>
            <a:ext cx="10553701" cy="457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0"/>
          <p:cNvSpPr txBox="1"/>
          <p:nvPr>
            <p:ph idx="8" type="body"/>
          </p:nvPr>
        </p:nvSpPr>
        <p:spPr>
          <a:xfrm>
            <a:off x="759144" y="6156325"/>
            <a:ext cx="1734820" cy="3222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A" showMasterSp="0">
  <p:cSld name="Title Slide - Option 4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7" name="Google Shape;57;p71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71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1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B" showMasterSp="0">
  <p:cSld name="Title Slide - Option 4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2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" name="Google Shape;66;p72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72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72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72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0" name="Google Shape;7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C" showMasterSp="0">
  <p:cSld name="Title Slide - Option 4C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3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4" name="Google Shape;74;p73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73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8" name="Google Shape;7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5" showMasterSp="0">
  <p:cSld name="Title Slide - Option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idx="1" type="body"/>
          </p:nvPr>
        </p:nvSpPr>
        <p:spPr>
          <a:xfrm>
            <a:off x="800099" y="647700"/>
            <a:ext cx="7013041" cy="2199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b="1" i="0" sz="4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4"/>
          <p:cNvSpPr txBox="1"/>
          <p:nvPr>
            <p:ph idx="2" type="body"/>
          </p:nvPr>
        </p:nvSpPr>
        <p:spPr>
          <a:xfrm>
            <a:off x="800100" y="2884411"/>
            <a:ext cx="701304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4"/>
          <p:cNvSpPr txBox="1"/>
          <p:nvPr>
            <p:ph idx="3" type="body"/>
          </p:nvPr>
        </p:nvSpPr>
        <p:spPr>
          <a:xfrm>
            <a:off x="800099" y="3845860"/>
            <a:ext cx="7013041" cy="395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74"/>
          <p:cNvSpPr txBox="1"/>
          <p:nvPr>
            <p:ph idx="4" type="body"/>
          </p:nvPr>
        </p:nvSpPr>
        <p:spPr>
          <a:xfrm>
            <a:off x="800098" y="4241336"/>
            <a:ext cx="7013041" cy="395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1800"/>
              <a:buFont typeface="Lato"/>
              <a:buNone/>
              <a:defRPr b="0" i="0" sz="18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4" name="Google Shape;8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5982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6" showMasterSp="0">
  <p:cSld name="Title Slide - Option 6">
    <p:bg>
      <p:bgPr>
        <a:solidFill>
          <a:srgbClr val="D4D1D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/>
          <p:nvPr>
            <p:ph idx="1" type="body"/>
          </p:nvPr>
        </p:nvSpPr>
        <p:spPr>
          <a:xfrm>
            <a:off x="800099" y="487442"/>
            <a:ext cx="6210301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sz="4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5"/>
          <p:cNvSpPr txBox="1"/>
          <p:nvPr>
            <p:ph idx="2" type="body"/>
          </p:nvPr>
        </p:nvSpPr>
        <p:spPr>
          <a:xfrm>
            <a:off x="800100" y="2903265"/>
            <a:ext cx="5947562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5"/>
          <p:cNvSpPr txBox="1"/>
          <p:nvPr>
            <p:ph idx="3" type="body"/>
          </p:nvPr>
        </p:nvSpPr>
        <p:spPr>
          <a:xfrm>
            <a:off x="800100" y="4413375"/>
            <a:ext cx="5947564" cy="37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75"/>
          <p:cNvSpPr txBox="1"/>
          <p:nvPr>
            <p:ph idx="4" type="body"/>
          </p:nvPr>
        </p:nvSpPr>
        <p:spPr>
          <a:xfrm>
            <a:off x="800097" y="4806484"/>
            <a:ext cx="5947565" cy="374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 Black"/>
              <a:buNone/>
              <a:defRPr b="1" i="0" sz="1200">
                <a:solidFill>
                  <a:srgbClr val="3F3F3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1" name="Google Shape;91;p75"/>
          <p:cNvCxnSpPr/>
          <p:nvPr/>
        </p:nvCxnSpPr>
        <p:spPr>
          <a:xfrm>
            <a:off x="0" y="4191000"/>
            <a:ext cx="7340828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75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3" name="Google Shape;9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5"/>
          <p:cNvSpPr/>
          <p:nvPr>
            <p:ph idx="5" type="pic"/>
          </p:nvPr>
        </p:nvSpPr>
        <p:spPr>
          <a:xfrm>
            <a:off x="7340826" y="0"/>
            <a:ext cx="4851173" cy="5868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A - Printable" showMasterSp="0">
  <p:cSld name="Title Slide - Option 4A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6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8" name="Google Shape;98;p76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76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76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76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2" name="Google Shape;10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6 - Printable" showMasterSp="0">
  <p:cSld name="Title Slide - Option 6 - Printable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7"/>
          <p:cNvSpPr txBox="1"/>
          <p:nvPr>
            <p:ph idx="1" type="body"/>
          </p:nvPr>
        </p:nvSpPr>
        <p:spPr>
          <a:xfrm>
            <a:off x="800099" y="487442"/>
            <a:ext cx="5947565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b="1" sz="4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77"/>
          <p:cNvSpPr txBox="1"/>
          <p:nvPr>
            <p:ph idx="2" type="body"/>
          </p:nvPr>
        </p:nvSpPr>
        <p:spPr>
          <a:xfrm>
            <a:off x="800100" y="2903265"/>
            <a:ext cx="5947562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77"/>
          <p:cNvSpPr txBox="1"/>
          <p:nvPr>
            <p:ph idx="3" type="body"/>
          </p:nvPr>
        </p:nvSpPr>
        <p:spPr>
          <a:xfrm>
            <a:off x="800100" y="4413375"/>
            <a:ext cx="5947564" cy="37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77"/>
          <p:cNvSpPr txBox="1"/>
          <p:nvPr>
            <p:ph idx="4" type="body"/>
          </p:nvPr>
        </p:nvSpPr>
        <p:spPr>
          <a:xfrm>
            <a:off x="800097" y="4806484"/>
            <a:ext cx="5947565" cy="374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 Black"/>
              <a:buNone/>
              <a:defRPr b="1" i="0" sz="1200">
                <a:solidFill>
                  <a:srgbClr val="3F3F3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9" name="Google Shape;109;p77"/>
          <p:cNvCxnSpPr/>
          <p:nvPr/>
        </p:nvCxnSpPr>
        <p:spPr>
          <a:xfrm>
            <a:off x="0" y="4191000"/>
            <a:ext cx="7340828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77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7"/>
          <p:cNvSpPr/>
          <p:nvPr>
            <p:ph idx="5" type="pic"/>
          </p:nvPr>
        </p:nvSpPr>
        <p:spPr>
          <a:xfrm>
            <a:off x="7340826" y="0"/>
            <a:ext cx="4851173" cy="58689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ayout">
  <p:cSld name="Blank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8"/>
          <p:cNvSpPr txBox="1"/>
          <p:nvPr>
            <p:ph idx="1" type="body"/>
          </p:nvPr>
        </p:nvSpPr>
        <p:spPr>
          <a:xfrm>
            <a:off x="838200" y="1819275"/>
            <a:ext cx="10515600" cy="4560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1">
  <p:cSld name="Agenda - Option 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2"/>
          <p:cNvSpPr txBox="1"/>
          <p:nvPr>
            <p:ph type="title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2"/>
          <p:cNvSpPr txBox="1"/>
          <p:nvPr>
            <p:ph idx="1" type="body"/>
          </p:nvPr>
        </p:nvSpPr>
        <p:spPr>
          <a:xfrm>
            <a:off x="4403687" y="723007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2"/>
          <p:cNvSpPr txBox="1"/>
          <p:nvPr>
            <p:ph idx="2" type="body"/>
          </p:nvPr>
        </p:nvSpPr>
        <p:spPr>
          <a:xfrm>
            <a:off x="4403687" y="2270224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2"/>
          <p:cNvSpPr txBox="1"/>
          <p:nvPr>
            <p:ph idx="3" type="body"/>
          </p:nvPr>
        </p:nvSpPr>
        <p:spPr>
          <a:xfrm>
            <a:off x="4403687" y="3798312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62"/>
          <p:cNvSpPr txBox="1"/>
          <p:nvPr>
            <p:ph idx="4" type="body"/>
          </p:nvPr>
        </p:nvSpPr>
        <p:spPr>
          <a:xfrm>
            <a:off x="7979932" y="711892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62"/>
          <p:cNvSpPr txBox="1"/>
          <p:nvPr>
            <p:ph idx="5" type="body"/>
          </p:nvPr>
        </p:nvSpPr>
        <p:spPr>
          <a:xfrm>
            <a:off x="7979932" y="2259109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62"/>
          <p:cNvSpPr txBox="1"/>
          <p:nvPr>
            <p:ph idx="6" type="body"/>
          </p:nvPr>
        </p:nvSpPr>
        <p:spPr>
          <a:xfrm>
            <a:off x="7979932" y="3787197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62"/>
          <p:cNvSpPr txBox="1"/>
          <p:nvPr>
            <p:ph idx="7" type="body"/>
          </p:nvPr>
        </p:nvSpPr>
        <p:spPr>
          <a:xfrm>
            <a:off x="4403725" y="1136987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62"/>
          <p:cNvSpPr txBox="1"/>
          <p:nvPr>
            <p:ph idx="8" type="body"/>
          </p:nvPr>
        </p:nvSpPr>
        <p:spPr>
          <a:xfrm>
            <a:off x="4403725" y="2686682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2"/>
          <p:cNvSpPr txBox="1"/>
          <p:nvPr>
            <p:ph idx="9" type="body"/>
          </p:nvPr>
        </p:nvSpPr>
        <p:spPr>
          <a:xfrm>
            <a:off x="4403687" y="4218136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62"/>
          <p:cNvSpPr txBox="1"/>
          <p:nvPr>
            <p:ph idx="13" type="body"/>
          </p:nvPr>
        </p:nvSpPr>
        <p:spPr>
          <a:xfrm>
            <a:off x="7979970" y="1115645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2"/>
          <p:cNvSpPr txBox="1"/>
          <p:nvPr>
            <p:ph idx="14" type="body"/>
          </p:nvPr>
        </p:nvSpPr>
        <p:spPr>
          <a:xfrm>
            <a:off x="7979970" y="2665340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62"/>
          <p:cNvSpPr txBox="1"/>
          <p:nvPr>
            <p:ph idx="15" type="body"/>
          </p:nvPr>
        </p:nvSpPr>
        <p:spPr>
          <a:xfrm>
            <a:off x="7979932" y="4196794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6" name="Google Shape;136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2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2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Printable">
  <p:cSld name="Section Break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3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1">
                <a:solidFill>
                  <a:srgbClr val="8C151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1" name="Google Shape;141;p63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63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63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3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1 Column">
  <p:cSld name="Text Slide - 1 Column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4"/>
          <p:cNvSpPr txBox="1"/>
          <p:nvPr>
            <p:ph idx="1" type="body"/>
          </p:nvPr>
        </p:nvSpPr>
        <p:spPr>
          <a:xfrm>
            <a:off x="800100" y="1110216"/>
            <a:ext cx="1055370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64"/>
          <p:cNvSpPr txBox="1"/>
          <p:nvPr>
            <p:ph type="title"/>
          </p:nvPr>
        </p:nvSpPr>
        <p:spPr>
          <a:xfrm>
            <a:off x="800100" y="266701"/>
            <a:ext cx="10553700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8" name="Google Shape;148;p64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64"/>
          <p:cNvSpPr txBox="1"/>
          <p:nvPr>
            <p:ph idx="2" type="body"/>
          </p:nvPr>
        </p:nvSpPr>
        <p:spPr>
          <a:xfrm>
            <a:off x="800100" y="1605068"/>
            <a:ext cx="10553700" cy="445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64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1" y="0"/>
            <a:ext cx="9144025" cy="125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" y="821945"/>
            <a:ext cx="11580392" cy="2702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6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66"/>
          <p:cNvSpPr txBox="1"/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6"/>
          <p:cNvSpPr txBox="1"/>
          <p:nvPr>
            <p:ph idx="1" type="body"/>
          </p:nvPr>
        </p:nvSpPr>
        <p:spPr>
          <a:xfrm>
            <a:off x="609600" y="1243584"/>
            <a:ext cx="10811934" cy="5065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81E32"/>
              </a:buClr>
              <a:buSzPts val="1600"/>
              <a:buFont typeface="Lato"/>
              <a:buNone/>
              <a:defRPr/>
            </a:lvl1pPr>
            <a:lvl2pPr indent="-437198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3285"/>
              <a:buChar char="•"/>
              <a:defRPr sz="2933"/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981E32"/>
              </a:buClr>
              <a:buSzPts val="1760"/>
              <a:buChar char="•"/>
              <a:defRPr/>
            </a:lvl3pPr>
            <a:lvl4pPr indent="-39928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981E32"/>
              </a:buClr>
              <a:buSzPts val="2688"/>
              <a:buChar char="•"/>
              <a:defRPr sz="2400"/>
            </a:lvl4pPr>
            <a:lvl5pPr indent="-38030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981E32"/>
              </a:buClr>
              <a:buSzPts val="2389"/>
              <a:buChar char="•"/>
              <a:defRPr sz="2133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Option 4C - Printable" showMasterSp="0">
  <p:cSld name="1_Title Slide - Option 4C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7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0" name="Google Shape;160;p67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67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67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67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4" name="Google Shape;16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869" y="6156021"/>
            <a:ext cx="2022942" cy="33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3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96">
          <p15:clr>
            <a:srgbClr val="FBAE40"/>
          </p15:clr>
        </p15:guide>
        <p15:guide id="4" orient="horz" pos="26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2">
  <p:cSld name="Agenda - Option 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9"/>
          <p:cNvSpPr txBox="1"/>
          <p:nvPr>
            <p:ph idx="1" type="body"/>
          </p:nvPr>
        </p:nvSpPr>
        <p:spPr>
          <a:xfrm>
            <a:off x="4383050" y="723007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7" name="Google Shape;167;p79"/>
          <p:cNvSpPr txBox="1"/>
          <p:nvPr>
            <p:ph idx="2" type="body"/>
          </p:nvPr>
        </p:nvSpPr>
        <p:spPr>
          <a:xfrm>
            <a:off x="6096001" y="722981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79"/>
          <p:cNvSpPr txBox="1"/>
          <p:nvPr>
            <p:ph idx="3" type="body"/>
          </p:nvPr>
        </p:nvSpPr>
        <p:spPr>
          <a:xfrm>
            <a:off x="6096001" y="1048833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79"/>
          <p:cNvSpPr txBox="1"/>
          <p:nvPr>
            <p:ph idx="4" type="body"/>
          </p:nvPr>
        </p:nvSpPr>
        <p:spPr>
          <a:xfrm>
            <a:off x="4383050" y="1520675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0" name="Google Shape;170;p79"/>
          <p:cNvSpPr txBox="1"/>
          <p:nvPr>
            <p:ph idx="5" type="body"/>
          </p:nvPr>
        </p:nvSpPr>
        <p:spPr>
          <a:xfrm>
            <a:off x="6096001" y="1520649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79"/>
          <p:cNvSpPr txBox="1"/>
          <p:nvPr>
            <p:ph idx="6" type="body"/>
          </p:nvPr>
        </p:nvSpPr>
        <p:spPr>
          <a:xfrm>
            <a:off x="6096001" y="1846501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79"/>
          <p:cNvSpPr txBox="1"/>
          <p:nvPr>
            <p:ph idx="7" type="body"/>
          </p:nvPr>
        </p:nvSpPr>
        <p:spPr>
          <a:xfrm>
            <a:off x="4383050" y="2324828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79"/>
          <p:cNvSpPr txBox="1"/>
          <p:nvPr>
            <p:ph idx="8" type="body"/>
          </p:nvPr>
        </p:nvSpPr>
        <p:spPr>
          <a:xfrm>
            <a:off x="6096001" y="2324802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79"/>
          <p:cNvSpPr txBox="1"/>
          <p:nvPr>
            <p:ph idx="9" type="body"/>
          </p:nvPr>
        </p:nvSpPr>
        <p:spPr>
          <a:xfrm>
            <a:off x="6096001" y="2650654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79"/>
          <p:cNvSpPr txBox="1"/>
          <p:nvPr>
            <p:ph idx="13" type="body"/>
          </p:nvPr>
        </p:nvSpPr>
        <p:spPr>
          <a:xfrm>
            <a:off x="4383050" y="3135454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79"/>
          <p:cNvSpPr txBox="1"/>
          <p:nvPr>
            <p:ph idx="14" type="body"/>
          </p:nvPr>
        </p:nvSpPr>
        <p:spPr>
          <a:xfrm>
            <a:off x="6096001" y="3135428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79"/>
          <p:cNvSpPr txBox="1"/>
          <p:nvPr>
            <p:ph idx="15" type="body"/>
          </p:nvPr>
        </p:nvSpPr>
        <p:spPr>
          <a:xfrm>
            <a:off x="6096001" y="3461280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79"/>
          <p:cNvSpPr txBox="1"/>
          <p:nvPr>
            <p:ph idx="16" type="body"/>
          </p:nvPr>
        </p:nvSpPr>
        <p:spPr>
          <a:xfrm>
            <a:off x="4383050" y="3946105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9" name="Google Shape;179;p79"/>
          <p:cNvSpPr txBox="1"/>
          <p:nvPr>
            <p:ph idx="17" type="body"/>
          </p:nvPr>
        </p:nvSpPr>
        <p:spPr>
          <a:xfrm>
            <a:off x="6096001" y="3946079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79"/>
          <p:cNvSpPr txBox="1"/>
          <p:nvPr>
            <p:ph idx="18" type="body"/>
          </p:nvPr>
        </p:nvSpPr>
        <p:spPr>
          <a:xfrm>
            <a:off x="6096001" y="4271931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79"/>
          <p:cNvSpPr txBox="1"/>
          <p:nvPr>
            <p:ph idx="19" type="body"/>
          </p:nvPr>
        </p:nvSpPr>
        <p:spPr>
          <a:xfrm>
            <a:off x="4383050" y="4756743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p79"/>
          <p:cNvSpPr txBox="1"/>
          <p:nvPr>
            <p:ph idx="20" type="body"/>
          </p:nvPr>
        </p:nvSpPr>
        <p:spPr>
          <a:xfrm>
            <a:off x="6096001" y="4756717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79"/>
          <p:cNvSpPr txBox="1"/>
          <p:nvPr>
            <p:ph idx="21" type="body"/>
          </p:nvPr>
        </p:nvSpPr>
        <p:spPr>
          <a:xfrm>
            <a:off x="6096001" y="5082569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79"/>
          <p:cNvSpPr txBox="1"/>
          <p:nvPr>
            <p:ph type="title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5" name="Google Shape;185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9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9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3">
  <p:cSld name="Agenda - Option 3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0"/>
          <p:cNvSpPr txBox="1"/>
          <p:nvPr>
            <p:ph type="title"/>
          </p:nvPr>
        </p:nvSpPr>
        <p:spPr>
          <a:xfrm>
            <a:off x="800100" y="636586"/>
            <a:ext cx="10551391" cy="804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1" i="0" sz="36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0"/>
          <p:cNvSpPr txBox="1"/>
          <p:nvPr>
            <p:ph idx="1" type="subTitle"/>
          </p:nvPr>
        </p:nvSpPr>
        <p:spPr>
          <a:xfrm>
            <a:off x="800100" y="1649637"/>
            <a:ext cx="3367809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marR="0" algn="l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B83A4B"/>
              </a:buClr>
              <a:buSzPts val="1400"/>
              <a:buFont typeface="Arial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91" name="Google Shape;191;p80"/>
          <p:cNvCxnSpPr/>
          <p:nvPr/>
        </p:nvCxnSpPr>
        <p:spPr>
          <a:xfrm>
            <a:off x="800100" y="1975489"/>
            <a:ext cx="10569864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80"/>
          <p:cNvSpPr txBox="1"/>
          <p:nvPr>
            <p:ph idx="2" type="body"/>
          </p:nvPr>
        </p:nvSpPr>
        <p:spPr>
          <a:xfrm>
            <a:off x="4412095" y="1649638"/>
            <a:ext cx="3367810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3" name="Google Shape;193;p80"/>
          <p:cNvSpPr txBox="1"/>
          <p:nvPr>
            <p:ph idx="3" type="body"/>
          </p:nvPr>
        </p:nvSpPr>
        <p:spPr>
          <a:xfrm>
            <a:off x="8024090" y="1649638"/>
            <a:ext cx="334587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4" name="Google Shape;194;p80"/>
          <p:cNvSpPr txBox="1"/>
          <p:nvPr>
            <p:ph idx="4" type="body"/>
          </p:nvPr>
        </p:nvSpPr>
        <p:spPr>
          <a:xfrm>
            <a:off x="793614" y="2122841"/>
            <a:ext cx="3367809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80"/>
          <p:cNvSpPr txBox="1"/>
          <p:nvPr>
            <p:ph idx="5" type="body"/>
          </p:nvPr>
        </p:nvSpPr>
        <p:spPr>
          <a:xfrm>
            <a:off x="793614" y="2684332"/>
            <a:ext cx="3367809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80"/>
          <p:cNvSpPr txBox="1"/>
          <p:nvPr>
            <p:ph idx="6" type="body"/>
          </p:nvPr>
        </p:nvSpPr>
        <p:spPr>
          <a:xfrm>
            <a:off x="4412095" y="2122841"/>
            <a:ext cx="3367809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80"/>
          <p:cNvSpPr txBox="1"/>
          <p:nvPr>
            <p:ph idx="7" type="body"/>
          </p:nvPr>
        </p:nvSpPr>
        <p:spPr>
          <a:xfrm>
            <a:off x="4412095" y="2684332"/>
            <a:ext cx="3367809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80"/>
          <p:cNvSpPr txBox="1"/>
          <p:nvPr>
            <p:ph idx="8" type="body"/>
          </p:nvPr>
        </p:nvSpPr>
        <p:spPr>
          <a:xfrm>
            <a:off x="8030577" y="2122841"/>
            <a:ext cx="3317674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80"/>
          <p:cNvSpPr txBox="1"/>
          <p:nvPr>
            <p:ph idx="9" type="body"/>
          </p:nvPr>
        </p:nvSpPr>
        <p:spPr>
          <a:xfrm>
            <a:off x="8030577" y="2684332"/>
            <a:ext cx="3317674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80"/>
          <p:cNvSpPr txBox="1"/>
          <p:nvPr>
            <p:ph idx="13" type="body"/>
          </p:nvPr>
        </p:nvSpPr>
        <p:spPr>
          <a:xfrm>
            <a:off x="4412095" y="3822149"/>
            <a:ext cx="3389674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1" name="Google Shape;201;p80"/>
          <p:cNvSpPr txBox="1"/>
          <p:nvPr>
            <p:ph idx="14" type="body"/>
          </p:nvPr>
        </p:nvSpPr>
        <p:spPr>
          <a:xfrm>
            <a:off x="8030577" y="3822149"/>
            <a:ext cx="331767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2" name="Google Shape;202;p80"/>
          <p:cNvSpPr txBox="1"/>
          <p:nvPr>
            <p:ph idx="15" type="body"/>
          </p:nvPr>
        </p:nvSpPr>
        <p:spPr>
          <a:xfrm>
            <a:off x="793614" y="4295352"/>
            <a:ext cx="3361323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80"/>
          <p:cNvSpPr txBox="1"/>
          <p:nvPr>
            <p:ph idx="16" type="body"/>
          </p:nvPr>
        </p:nvSpPr>
        <p:spPr>
          <a:xfrm>
            <a:off x="793614" y="4856843"/>
            <a:ext cx="3361323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80"/>
          <p:cNvSpPr txBox="1"/>
          <p:nvPr>
            <p:ph idx="17" type="body"/>
          </p:nvPr>
        </p:nvSpPr>
        <p:spPr>
          <a:xfrm>
            <a:off x="4412095" y="4295352"/>
            <a:ext cx="3389674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80"/>
          <p:cNvSpPr txBox="1"/>
          <p:nvPr>
            <p:ph idx="18" type="body"/>
          </p:nvPr>
        </p:nvSpPr>
        <p:spPr>
          <a:xfrm>
            <a:off x="4412095" y="4856843"/>
            <a:ext cx="3389674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80"/>
          <p:cNvSpPr txBox="1"/>
          <p:nvPr>
            <p:ph idx="19" type="body"/>
          </p:nvPr>
        </p:nvSpPr>
        <p:spPr>
          <a:xfrm>
            <a:off x="8030577" y="4295352"/>
            <a:ext cx="3317673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80"/>
          <p:cNvSpPr txBox="1"/>
          <p:nvPr>
            <p:ph idx="20" type="body"/>
          </p:nvPr>
        </p:nvSpPr>
        <p:spPr>
          <a:xfrm>
            <a:off x="8030577" y="4856843"/>
            <a:ext cx="3317673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80"/>
          <p:cNvSpPr txBox="1"/>
          <p:nvPr>
            <p:ph idx="21" type="body"/>
          </p:nvPr>
        </p:nvSpPr>
        <p:spPr>
          <a:xfrm>
            <a:off x="800100" y="3822149"/>
            <a:ext cx="336132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09" name="Google Shape;20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0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80"/>
          <p:cNvCxnSpPr/>
          <p:nvPr/>
        </p:nvCxnSpPr>
        <p:spPr>
          <a:xfrm>
            <a:off x="800100" y="4155271"/>
            <a:ext cx="10569864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80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Image" showMasterSp="0">
  <p:cSld name="Section Break - Image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1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6" name="Google Shape;216;p81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81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8" name="Google Shape;21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1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Red" showMasterSp="0">
  <p:cSld name="Section Break - Red">
    <p:bg>
      <p:bgPr>
        <a:gradFill>
          <a:gsLst>
            <a:gs pos="0">
              <a:srgbClr val="E04F39"/>
            </a:gs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2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3" name="Google Shape;223;p82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82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5" name="Google Shape;22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2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Blue" showMasterSp="0">
  <p:cSld name="Section Break - Blue">
    <p:bg>
      <p:bgPr>
        <a:gradFill>
          <a:gsLst>
            <a:gs pos="0">
              <a:srgbClr val="1AA4BC"/>
            </a:gs>
            <a:gs pos="50000">
              <a:srgbClr val="006983"/>
            </a:gs>
            <a:gs pos="100000">
              <a:srgbClr val="013948"/>
            </a:gs>
          </a:gsLst>
          <a:lin ang="8100000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3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0" name="Google Shape;230;p83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83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2" name="Google Shape;23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3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Purple" showMasterSp="0">
  <p:cSld name="Section Break - Purple">
    <p:bg>
      <p:bgPr>
        <a:gradFill>
          <a:gsLst>
            <a:gs pos="0">
              <a:srgbClr val="B6B1A9"/>
            </a:gs>
            <a:gs pos="50000">
              <a:srgbClr val="877F7A"/>
            </a:gs>
            <a:gs pos="100000">
              <a:srgbClr val="544948"/>
            </a:gs>
          </a:gsLst>
          <a:lin ang="8100000" scaled="0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4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7" name="Google Shape;237;p84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84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9" name="Google Shape;23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4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Orange" showMasterSp="0">
  <p:cSld name="Section Break - Orange">
    <p:bg>
      <p:bgPr>
        <a:gradFill>
          <a:gsLst>
            <a:gs pos="0">
              <a:srgbClr val="FEDD5C"/>
            </a:gs>
            <a:gs pos="38000">
              <a:srgbClr val="F4B12F"/>
            </a:gs>
            <a:gs pos="78000">
              <a:srgbClr val="E98300"/>
            </a:gs>
            <a:gs pos="100000">
              <a:srgbClr val="E98300"/>
            </a:gs>
          </a:gsLst>
          <a:lin ang="810000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5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4" name="Google Shape;244;p85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85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6" name="Google Shape;24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85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Green" showMasterSp="0">
  <p:cSld name="Section Break - Green">
    <p:bg>
      <p:bgPr>
        <a:gradFill>
          <a:gsLst>
            <a:gs pos="0">
              <a:srgbClr val="8AC751"/>
            </a:gs>
            <a:gs pos="50000">
              <a:srgbClr val="59B06D"/>
            </a:gs>
            <a:gs pos="100000">
              <a:srgbClr val="279989"/>
            </a:gs>
          </a:gsLst>
          <a:lin ang="8100000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6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1" name="Google Shape;251;p86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86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3" name="Google Shape;25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6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2 Column">
  <p:cSld name="Text Slide - 2 Column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7"/>
          <p:cNvSpPr txBox="1"/>
          <p:nvPr>
            <p:ph idx="1" type="body"/>
          </p:nvPr>
        </p:nvSpPr>
        <p:spPr>
          <a:xfrm>
            <a:off x="800100" y="1602938"/>
            <a:ext cx="5157788" cy="4454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87"/>
          <p:cNvSpPr txBox="1"/>
          <p:nvPr>
            <p:ph idx="2" type="body"/>
          </p:nvPr>
        </p:nvSpPr>
        <p:spPr>
          <a:xfrm>
            <a:off x="6229939" y="1602938"/>
            <a:ext cx="5157788" cy="445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87"/>
          <p:cNvSpPr txBox="1"/>
          <p:nvPr>
            <p:ph idx="3" type="body"/>
          </p:nvPr>
        </p:nvSpPr>
        <p:spPr>
          <a:xfrm>
            <a:off x="794904" y="1107621"/>
            <a:ext cx="5164831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87"/>
          <p:cNvSpPr txBox="1"/>
          <p:nvPr>
            <p:ph idx="4" type="body"/>
          </p:nvPr>
        </p:nvSpPr>
        <p:spPr>
          <a:xfrm>
            <a:off x="6234170" y="1107621"/>
            <a:ext cx="5162925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87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1" name="Google Shape;261;p87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" name="Google Shape;262;p87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176">
          <p15:clr>
            <a:srgbClr val="FBAE40"/>
          </p15:clr>
        </p15:guide>
        <p15:guide id="2" orient="horz" pos="888">
          <p15:clr>
            <a:srgbClr val="FBAE40"/>
          </p15:clr>
        </p15:guide>
        <p15:guide id="3" orient="horz" pos="381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Slide - One Image">
  <p:cSld name="Photo Slide - One Image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8"/>
          <p:cNvSpPr/>
          <p:nvPr>
            <p:ph idx="2" type="pic"/>
          </p:nvPr>
        </p:nvSpPr>
        <p:spPr>
          <a:xfrm>
            <a:off x="800100" y="1107621"/>
            <a:ext cx="6929879" cy="4950264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88"/>
          <p:cNvSpPr txBox="1"/>
          <p:nvPr>
            <p:ph idx="1" type="body"/>
          </p:nvPr>
        </p:nvSpPr>
        <p:spPr>
          <a:xfrm>
            <a:off x="7980362" y="1107621"/>
            <a:ext cx="3373438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88"/>
          <p:cNvSpPr txBox="1"/>
          <p:nvPr>
            <p:ph idx="3" type="body"/>
          </p:nvPr>
        </p:nvSpPr>
        <p:spPr>
          <a:xfrm>
            <a:off x="7980363" y="1602470"/>
            <a:ext cx="3373437" cy="4455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88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88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9" name="Google Shape;269;p88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Slide - 2 Images">
  <p:cSld name="Photo Slide - 2 Images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9"/>
          <p:cNvSpPr/>
          <p:nvPr>
            <p:ph idx="2" type="pic"/>
          </p:nvPr>
        </p:nvSpPr>
        <p:spPr>
          <a:xfrm>
            <a:off x="800100" y="1107622"/>
            <a:ext cx="5143050" cy="3190048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89"/>
          <p:cNvSpPr/>
          <p:nvPr>
            <p:ph idx="3" type="pic"/>
          </p:nvPr>
        </p:nvSpPr>
        <p:spPr>
          <a:xfrm>
            <a:off x="6229939" y="1107620"/>
            <a:ext cx="5123861" cy="3190049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89"/>
          <p:cNvSpPr txBox="1"/>
          <p:nvPr>
            <p:ph idx="1" type="body"/>
          </p:nvPr>
        </p:nvSpPr>
        <p:spPr>
          <a:xfrm>
            <a:off x="800100" y="4955452"/>
            <a:ext cx="5143050" cy="1102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89"/>
          <p:cNvSpPr txBox="1"/>
          <p:nvPr>
            <p:ph idx="4" type="body"/>
          </p:nvPr>
        </p:nvSpPr>
        <p:spPr>
          <a:xfrm>
            <a:off x="800100" y="4482939"/>
            <a:ext cx="514305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89"/>
          <p:cNvSpPr txBox="1"/>
          <p:nvPr>
            <p:ph idx="5" type="body"/>
          </p:nvPr>
        </p:nvSpPr>
        <p:spPr>
          <a:xfrm>
            <a:off x="6237422" y="4955452"/>
            <a:ext cx="5143050" cy="1102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89"/>
          <p:cNvSpPr txBox="1"/>
          <p:nvPr>
            <p:ph idx="6" type="body"/>
          </p:nvPr>
        </p:nvSpPr>
        <p:spPr>
          <a:xfrm>
            <a:off x="6237422" y="4482939"/>
            <a:ext cx="514305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89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89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9" name="Google Shape;279;p89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3 Columns">
  <p:cSld name="Content Slide - 3 Columns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0"/>
          <p:cNvSpPr txBox="1"/>
          <p:nvPr>
            <p:ph idx="1" type="body"/>
          </p:nvPr>
        </p:nvSpPr>
        <p:spPr>
          <a:xfrm>
            <a:off x="800100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2" name="Google Shape;282;p90"/>
          <p:cNvSpPr txBox="1"/>
          <p:nvPr>
            <p:ph idx="2" type="body"/>
          </p:nvPr>
        </p:nvSpPr>
        <p:spPr>
          <a:xfrm>
            <a:off x="800099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90"/>
          <p:cNvSpPr txBox="1"/>
          <p:nvPr>
            <p:ph idx="3" type="body"/>
          </p:nvPr>
        </p:nvSpPr>
        <p:spPr>
          <a:xfrm>
            <a:off x="800099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p90"/>
          <p:cNvSpPr txBox="1"/>
          <p:nvPr>
            <p:ph idx="4" type="body"/>
          </p:nvPr>
        </p:nvSpPr>
        <p:spPr>
          <a:xfrm>
            <a:off x="4412095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5" name="Google Shape;285;p90"/>
          <p:cNvSpPr txBox="1"/>
          <p:nvPr>
            <p:ph idx="5" type="body"/>
          </p:nvPr>
        </p:nvSpPr>
        <p:spPr>
          <a:xfrm>
            <a:off x="4412094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90"/>
          <p:cNvSpPr txBox="1"/>
          <p:nvPr>
            <p:ph idx="6" type="body"/>
          </p:nvPr>
        </p:nvSpPr>
        <p:spPr>
          <a:xfrm>
            <a:off x="4412094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90"/>
          <p:cNvSpPr txBox="1"/>
          <p:nvPr>
            <p:ph idx="7" type="body"/>
          </p:nvPr>
        </p:nvSpPr>
        <p:spPr>
          <a:xfrm>
            <a:off x="8003707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8" name="Google Shape;288;p90"/>
          <p:cNvSpPr txBox="1"/>
          <p:nvPr>
            <p:ph idx="8" type="body"/>
          </p:nvPr>
        </p:nvSpPr>
        <p:spPr>
          <a:xfrm>
            <a:off x="8003706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90"/>
          <p:cNvSpPr txBox="1"/>
          <p:nvPr>
            <p:ph idx="9" type="body"/>
          </p:nvPr>
        </p:nvSpPr>
        <p:spPr>
          <a:xfrm>
            <a:off x="8003706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90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90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92" name="Google Shape;292;p90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i="0" sz="4800" u="none" cap="none" strike="noStrike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ato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92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8168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8168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1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8">
          <p15:clr>
            <a:srgbClr val="F26B43"/>
          </p15:clr>
        </p15:guide>
        <p15:guide id="2" orient="horz" pos="408">
          <p15:clr>
            <a:srgbClr val="F26B43"/>
          </p15:clr>
        </p15:guide>
        <p15:guide id="3" orient="horz" pos="1104">
          <p15:clr>
            <a:srgbClr val="F26B43"/>
          </p15:clr>
        </p15:guide>
        <p15:guide id="4" orient="horz" pos="1464">
          <p15:clr>
            <a:srgbClr val="F26B43"/>
          </p15:clr>
        </p15:guide>
        <p15:guide id="5" pos="3840">
          <p15:clr>
            <a:srgbClr val="F26B43"/>
          </p15:clr>
        </p15:guide>
        <p15:guide id="6" pos="504">
          <p15:clr>
            <a:srgbClr val="F26B43"/>
          </p15:clr>
        </p15:guide>
        <p15:guide id="7" pos="7152">
          <p15:clr>
            <a:srgbClr val="F26B43"/>
          </p15:clr>
        </p15:guide>
        <p15:guide id="8" orient="horz" pos="3984">
          <p15:clr>
            <a:srgbClr val="F26B43"/>
          </p15:clr>
        </p15:guide>
        <p15:guide id="9" orient="horz" pos="4128">
          <p15:clr>
            <a:srgbClr val="F26B43"/>
          </p15:clr>
        </p15:guide>
        <p15:guide id="10" orient="horz" pos="3816">
          <p15:clr>
            <a:srgbClr val="F26B43"/>
          </p15:clr>
        </p15:guide>
        <p15:guide id="11" pos="4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1"/>
          <p:cNvSpPr txBox="1"/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1" i="0" sz="3600" u="none" cap="none" strike="noStrike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61"/>
          <p:cNvSpPr txBox="1"/>
          <p:nvPr>
            <p:ph idx="1" type="body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83A4B"/>
              </a:buClr>
              <a:buSzPts val="1600"/>
              <a:buFont typeface="Lato"/>
              <a:buNone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92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8168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8168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1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61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6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AI-Assisted Feature Addition To Existing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Generative AI Use Case 2  •  Ben Reese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Tool: Claude Code (Anthropic CLI agent)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A 30-minute session converting a fixed-point PID controller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to floating point — across VHDL, Python, and build infrastructure.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• ~800 lines of production code generated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• 15 files created/modified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• FPGA firmware + Python drivers + build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The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Converting a Fixed-Point PID Controller to Floating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5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B2B"/>
                </a:solidFill>
              </a:defRPr>
            </a:pPr>
            <a:r>
              <a:t>The system: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FPGA-based detector readout (VHDL + Python control software)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PID servo module: ~1000 lines of VHDL, 8 parallel instances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Goal: replace fixed-point math with IEEE 754 float32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  → Better dynamic range, simpler coefficient tuning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  → Reuse Xilinx FP IP cores already in the design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400" b="1">
                <a:solidFill>
                  <a:srgbClr val="2B2B2B"/>
                </a:solidFill>
              </a:defRPr>
            </a:pPr>
            <a:r>
              <a:t>Why this is a good AI-assisted task: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Not greenfield — must integrate into a large existing codebase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Crosses firmware (VHDL) and software (Python) boundaries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Requires understanding existing design before writing new code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Many files touched, but the design work is the hard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600000"/>
            <a:ext cx="4800000" cy="45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/>
          <a:lstStyle/>
          <a:p>
            <a:pPr algn="ctr">
              <a:defRPr sz="1000">
                <a:solidFill>
                  <a:srgbClr val="4EC9B0"/>
                </a:solidFill>
                <a:latin typeface="Courier New"/>
              </a:defRPr>
            </a:pPr>
            <a:r>
              <a:t>[Screenshot: AdcDsp.vhd — existing fixed-point PID]</a:t>
            </a:r>
            <a:br/>
            <a:br/>
            <a:r>
              <a:t>PID_P_S:</a:t>
            </a:r>
            <a:br/>
            <a:r>
              <a:t>  v.pidResult := resize(</a:t>
            </a:r>
            <a:br/>
            <a:r>
              <a:t>    r.pidResult +</a:t>
            </a:r>
            <a:br/>
            <a:r>
              <a:t>    (r.pidCoef * r.pidMultiplier),</a:t>
            </a:r>
            <a:br/>
            <a:r>
              <a:t>    v.pidResult);</a:t>
            </a:r>
            <a:br/>
            <a:r>
              <a:t>  v.pidCoef := iSfixed;</a:t>
            </a:r>
            <a:br/>
            <a:r>
              <a:t>  v.pidMultiplier := r.sumAccum;</a:t>
            </a:r>
            <a:br/>
            <a:r>
              <a:t>  v.state := PID_I_S;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The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Claude Code operates in the terminal alongside your normal dev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5C5C"/>
                </a:solidFill>
              </a:defRPr>
            </a:pPr>
            <a:r>
              <a:t>1. Explore — Agent reads codebase, understands architecture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2. Plan — Proposes approach, asks clarifying questions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3. Implement — Writes code across multiple files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4. Iterate — Responds to feedback, fixes issues</a:t>
            </a:r>
          </a:p>
          <a:p>
            <a:pPr>
              <a:defRPr sz="1400" b="0">
                <a:solidFill>
                  <a:srgbClr val="5C5C5C"/>
                </a:solidFill>
              </a:defRPr>
            </a:pPr>
            <a:r>
              <a:t>5. Document — Creates plan docs and progress tracking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~30 minutes of interaction for a feature that would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take a day or more by hand.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0" y="1600000"/>
            <a:ext cx="5400000" cy="46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/>
          <a:lstStyle/>
          <a:p>
            <a:pPr algn="ctr">
              <a:defRPr sz="1000">
                <a:solidFill>
                  <a:srgbClr val="4EC9B0"/>
                </a:solidFill>
                <a:latin typeface="Courier New"/>
              </a:defRPr>
            </a:pPr>
            <a:r>
              <a:t>[Screenshot: Terminal showing initial prompt]</a:t>
            </a:r>
            <a:br/>
            <a:br/>
            <a:r>
              <a:t>$ claude</a:t>
            </a:r>
            <a:br/>
            <a:br/>
            <a:r>
              <a:t>&gt; Let's focus on the</a:t>
            </a:r>
            <a:br/>
            <a:r>
              <a:t>&gt; ColumnFpgaBoard325Coordinator10G target.</a:t>
            </a:r>
            <a:br/>
            <a:r>
              <a:t>&gt; The AdcDsp block implements a fixed-point</a:t>
            </a:r>
            <a:br/>
            <a:r>
              <a:t>&gt; PID. I'd like to adapt it to use floating</a:t>
            </a:r>
            <a:br/>
            <a:r>
              <a:t>&gt; point math. The design already has some FP</a:t>
            </a:r>
            <a:br/>
            <a:r>
              <a:t>&gt; IP cores. Make a plan.</a:t>
            </a:r>
            <a:br/>
            <a:br/>
            <a:r>
              <a:t>I'll explore the codebase to understand the</a:t>
            </a:r>
            <a:br/>
            <a:r>
              <a:t>existing floating point infrastructure...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AGENTS.md — Giving the Agent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The single most impactful thing you can add to a repo for AI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4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B2B"/>
                </a:solidFill>
              </a:defRPr>
            </a:pPr>
            <a:r>
              <a:t>A Markdown file at the repo root: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Architecture and data flow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Where to find things (file/directory map)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Naming conventions and coding patterns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How to start for each task area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Build system patterns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Without → agent guesses for many turns</a:t>
            </a:r>
          </a:p>
          <a:p>
            <a:pPr>
              <a:defRPr sz="1300" b="1">
                <a:solidFill>
                  <a:srgbClr val="2B2B2B"/>
                </a:solidFill>
              </a:defRPr>
            </a:pPr>
            <a:r>
              <a:t>With → immediate navigation, correct</a:t>
            </a:r>
          </a:p>
          <a:p>
            <a:pPr>
              <a:defRPr sz="1300" b="1">
                <a:solidFill>
                  <a:srgbClr val="2B2B2B"/>
                </a:solidFill>
              </a:defRPr>
            </a:pPr>
            <a:r>
              <a:t>conventions from the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0000" y="1500000"/>
            <a:ext cx="6200000" cy="10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900">
                <a:solidFill>
                  <a:srgbClr val="888899"/>
                </a:solidFill>
                <a:latin typeface="Courier New"/>
              </a:defRPr>
            </a:pPr>
            <a:r>
              <a:t>── AGENTS.md ──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### Data Flow (Column Board)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AD9681 ADC → DataPath → AdcDsp (PID) → EventBuilder → Host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            ↕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  FastDacDriver (SQ1 feedback)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0000" y="2650000"/>
            <a:ext cx="6200000" cy="9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1000">
                <a:solidFill>
                  <a:srgbClr val="D4D4D4"/>
                </a:solidFill>
                <a:latin typeface="Courier New"/>
              </a:defRPr>
            </a:pPr>
            <a:r>
              <a:t>| Task Area       | Start With These Files            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|─────────────────|────────────────────────────────────|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DSP / data path | DataPath.vhd, AdcDsp.vhd,         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                | BiquadFilter.vhd, EventBuilder.vhd 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0000" y="3700000"/>
            <a:ext cx="6200000" cy="75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1000">
                <a:solidFill>
                  <a:srgbClr val="D4D4D4"/>
                </a:solidFill>
                <a:latin typeface="Courier New"/>
              </a:defRPr>
            </a:pPr>
            <a:r>
              <a:t>## Firmware Conventions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- Generics suffixed _G (e.g., TPD_G, SIMULATION_G)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- Constants suffixed _C (e.g., AXIL_CLK_FREQ_C)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- Architecture always named `rtl`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0000" y="4600000"/>
            <a:ext cx="6200000" cy="6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1000">
                <a:solidFill>
                  <a:srgbClr val="D4D4D4"/>
                </a:solidFill>
                <a:latin typeface="Courier New"/>
              </a:defRPr>
            </a:pPr>
            <a:r>
              <a:t>For substantial feature work, keep planning, progress,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and handoff Markdown under docs/plans/&lt;task-name&gt;/.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AGENTS.md → Plan Docs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Agent automatically created docs/plans/fp-dsp-pid/PLAN.md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4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B2B"/>
                </a:solidFill>
              </a:defRPr>
            </a:pPr>
            <a:r>
              <a:t>Why plan docs matter:</a:t>
            </a:r>
          </a:p>
          <a:p>
            <a:pPr>
              <a:defRPr sz="4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Plans survive context resets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→ agent resumes in new sessions</a:t>
            </a:r>
          </a:p>
          <a:p>
            <a:pPr>
              <a:defRPr sz="4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Engineers review before code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→ catch issues early</a:t>
            </a:r>
          </a:p>
          <a:p>
            <a:pPr>
              <a:defRPr sz="4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Decisions + rationale captured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→ not buried in chat logs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This example fit in one session.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Most features won't — plan docs</a:t>
            </a:r>
          </a:p>
          <a:p>
            <a:pPr>
              <a:defRPr sz="1200" b="1">
                <a:solidFill>
                  <a:srgbClr val="2B2B2B"/>
                </a:solidFill>
              </a:defRPr>
            </a:pPr>
            <a:r>
              <a:t>become essential for continuity.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0000" y="1500000"/>
            <a:ext cx="6200000" cy="48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900">
                <a:solidFill>
                  <a:srgbClr val="888899"/>
                </a:solidFill>
                <a:latin typeface="Courier New"/>
              </a:defRPr>
            </a:pPr>
            <a:r>
              <a:t>── docs/plans/fp-dsp-pid/PLAN.md ──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 Floating-Point PID (AdcDspFp)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## Scope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New module, port-compatible with AdcDsp,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selectable via USE_FLOAT_PID_G generic.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## Architecture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Core   | Operation   | Latency 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|--------|-------------|----------|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FpMac  | A*B+C       | 4 cycles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Int2Fp | int → float | 2 cycles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| Fp2Int | float → int | 2 cycles |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## Key Design Decisions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1. Track unwrapped feedback value as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primary state (simplifies flux jump)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2. Pass float directly to downstream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filter (skip redundant conversion)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3. Iterative flux jump loop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(handles multi-quantum jumps)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## State Machine (~38 cycles common case)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ACCUMULATE → Int2Fp → P_FMA → I_FMA →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D_DIFF_FMA → D_FMA → SQ1FB_ADD_FMA →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DERIVE_WRAPPED → Fp2Int → FLUX_CHECK →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ANTI_WINDUP → SUM_UPDATE → DATA_STREAM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Plan →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The plan evolved through back-and-forth design dialogue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5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B2B2B"/>
                </a:solidFill>
              </a:defRPr>
            </a:pPr>
            <a:r>
              <a:t>"New module or modify in place?"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→ New file + generic to select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2B2B2B"/>
                </a:solidFill>
              </a:defRPr>
            </a:pPr>
            <a:r>
              <a:t>"Can we pass float directly to the next filter stage?"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→ Yes — added bypass generic, eliminates 8 redundant conversions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2B2B2B"/>
                </a:solidFill>
              </a:defRPr>
            </a:pPr>
            <a:r>
              <a:t>"How does anti-windup work in float domain?"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→ Sign-bit comparison, no extra FP operation needed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300" b="0">
                <a:solidFill>
                  <a:srgbClr val="2B2B2B"/>
                </a:solidFill>
              </a:defRPr>
            </a:pPr>
            <a:r>
              <a:t>"Support multi-quantum flux jumps?"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→ Iterative integer loop, widened counter from 9 to 16 bits</a:t>
            </a:r>
          </a:p>
          <a:p>
            <a:pPr>
              <a:defRPr sz="1000" b="0">
                <a:solidFill>
                  <a:srgbClr val="5C5C5C"/>
                </a:solidFill>
              </a:defRPr>
            </a:pPr>
          </a:p>
          <a:p>
            <a:pPr>
              <a:defRPr sz="1400" b="1">
                <a:solidFill>
                  <a:srgbClr val="2B2B2B"/>
                </a:solidFill>
              </a:defRPr>
            </a:pPr>
            <a:r>
              <a:t>The agent participates in design — but the engineer</a:t>
            </a:r>
          </a:p>
          <a:p>
            <a:pPr>
              <a:defRPr sz="1400" b="1">
                <a:solidFill>
                  <a:srgbClr val="2B2B2B"/>
                </a:solidFill>
              </a:defRPr>
            </a:pPr>
            <a:r>
              <a:t>makes the architectural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600000"/>
            <a:ext cx="4800000" cy="46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/>
          <a:lstStyle/>
          <a:p>
            <a:pPr algn="ctr">
              <a:defRPr sz="1000">
                <a:solidFill>
                  <a:srgbClr val="4EC9B0"/>
                </a:solidFill>
                <a:latin typeface="Courier New"/>
              </a:defRPr>
            </a:pPr>
            <a:r>
              <a:t>[Screenshot: Plan mode Q&amp;A in terminal]</a:t>
            </a:r>
            <a:br/>
            <a:br/>
            <a:r>
              <a:t>┌ Question ─────────────────────────┐</a:t>
            </a:r>
            <a:br/>
            <a:r>
              <a:t>│ Should we create a new module      │</a:t>
            </a:r>
            <a:br/>
            <a:r>
              <a:t>│ (AdcDspFp.vhd) or modify AdcDsp   │</a:t>
            </a:r>
            <a:br/>
            <a:r>
              <a:t>│ in place?                          │</a:t>
            </a:r>
            <a:br/>
            <a:r>
              <a:t>│                                    │</a:t>
            </a:r>
            <a:br/>
            <a:r>
              <a:t>│ ● New module (AdcDspFp.vhd)        │</a:t>
            </a:r>
            <a:br/>
            <a:r>
              <a:t>│ ○ Modify in place with generic     │</a:t>
            </a:r>
            <a:br/>
            <a:r>
              <a:t>│ ○ Modify in place, replace         │</a:t>
            </a:r>
            <a:br/>
            <a:r>
              <a:t>└────────────────────────────────────┘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Implementation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0000"/>
            <a:ext cx="110643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3E54"/>
                </a:solidFill>
              </a:defRPr>
            </a:pPr>
            <a:r>
              <a:t>All created/modified in one ~30 minute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Created: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AdcDspFp.vhd      — 600-line FP PID module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Fp2Int.xci          — Xilinx IP core (float→int)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_AdcDspFp.py       — Python register driver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400" b="1">
                <a:solidFill>
                  <a:srgbClr val="1B3A5C"/>
                </a:solidFill>
              </a:defRPr>
            </a:pPr>
            <a:r>
              <a:t>Modified: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DataPath.vhd       — generate blocks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BiquadFilter.vhd   — float bypass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WarmTdmPkg.vhd    — stream config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ColumnFpgaBoard    — top generic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ruckus.tcl           — IP loading</a:t>
            </a:r>
          </a:p>
          <a:p>
            <a:pPr>
              <a:defRPr sz="1200" b="0">
                <a:solidFill>
                  <a:srgbClr val="5C5C5C"/>
                </a:solidFill>
              </a:defRPr>
            </a:pPr>
            <a:r>
              <a:t>  + 7 Python files    — CLI + SW stack</a:t>
            </a:r>
          </a:p>
          <a:p>
            <a:pPr>
              <a:defRPr sz="600" b="0">
                <a:solidFill>
                  <a:srgbClr val="5C5C5C"/>
                </a:solidFill>
              </a:defRPr>
            </a:pPr>
          </a:p>
          <a:p>
            <a:pPr>
              <a:defRPr sz="1400" b="1">
                <a:solidFill>
                  <a:srgbClr val="2B2B2B"/>
                </a:solidFill>
              </a:defRPr>
            </a:pPr>
            <a:r>
              <a:t>~800 lines of production code</a:t>
            </a:r>
          </a:p>
          <a:p>
            <a:pPr>
              <a:defRPr sz="1400" b="1">
                <a:solidFill>
                  <a:srgbClr val="2B2B2B"/>
                </a:solidFill>
              </a:defRPr>
            </a:pPr>
            <a:r>
              <a:t>all following existing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0000" y="1500000"/>
            <a:ext cx="5600000" cy="48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 rIns="150000"/>
          <a:lstStyle/>
          <a:p>
            <a:pPr algn="ctr">
              <a:defRPr sz="900">
                <a:solidFill>
                  <a:srgbClr val="888899"/>
                </a:solidFill>
                <a:latin typeface="Courier New"/>
              </a:defRPr>
            </a:pPr>
            <a:r>
              <a:t>── firmware/common/warm_tdm/rtl/AdcDspFp.vhd ──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-- AdcDspFp.vhd (generated)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when PID_P_S =&gt;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if (fpMacOutValid = '1') then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v.pidResultFp := fpMacOutData;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-- I term: result += I * sumAccum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v.fpMacInValid := '1';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v.fpMacA := r.sumAccumFp;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v.fpMacB := r.iCoef;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v.fpMacC := fpMacOutData;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v.state  := PID_I_S;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end if;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when PID_I_S =&gt;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if (fpMacOutValid = '1') then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v.pidResultFp := fpMacOutData;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-- D error: lastAccum - accumError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v.fpMacInValid := '1';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v.fpMacA := r.accumErrorFp;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v.fpMacB := X"BF800000"; -- -1.0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v.fpMacC := r.lastAccumErrorFp;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v.state  := PID_D_DIFF_S;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end if;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What Worked / What Needed a Human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Agent handled well: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Reading &amp; comprehending large existing codebase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Following established patterns (copied style from BiquadFilter)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Cross-domain work (VHDL ↔ Python ↔ TCL build system)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Responding to design feedback and updating coherently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Auto-generating plan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F1D27"/>
                </a:solidFill>
              </a:defRPr>
            </a:pPr>
            <a:r>
              <a:t>Required human judgment: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Architecture decisions (new module vs. modify in place)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Algorithm correctness (anti-windup semantics, thresholds)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Catching missed conventions (review found missing patterns)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• Deciding what to test and how to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2B2B"/>
                </a:solidFill>
              </a:defRPr>
            </a:pPr>
            <a:r>
              <a:t>The AI accelerates implementation;</a:t>
            </a:r>
          </a:p>
          <a:p>
            <a:pPr>
              <a:defRPr sz="1600" b="1">
                <a:solidFill>
                  <a:srgbClr val="2B2B2B"/>
                </a:solidFill>
              </a:defRPr>
            </a:pPr>
            <a:r>
              <a:t>the engineer owns the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200000"/>
            <a:ext cx="5100000" cy="3800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100000"/>
          <a:lstStyle/>
          <a:p>
            <a:pPr algn="ctr">
              <a:defRPr sz="1000">
                <a:solidFill>
                  <a:srgbClr val="4EC9B0"/>
                </a:solidFill>
                <a:latin typeface="Courier New"/>
              </a:defRPr>
            </a:pPr>
            <a:r>
              <a:t>[Screenshot: Review catch in terminal]</a:t>
            </a:r>
            <a:br/>
            <a:br/>
            <a:r>
              <a:t>&gt; _AdcDsp.py has P_CoefRaw, I_CoefRaw</a:t>
            </a:r>
            <a:br/>
            <a:r>
              <a:t>&gt; and D_CoefRaw. The new FP version</a:t>
            </a:r>
            <a:br/>
            <a:r>
              <a:t>&gt; only has I_CoefRaw. Why?</a:t>
            </a:r>
            <a:br/>
            <a:br/>
            <a:r>
              <a:t>In the original, all three use the</a:t>
            </a:r>
            <a:br/>
            <a:r>
              <a:t>Raw/Link pattern... I simplified P</a:t>
            </a:r>
            <a:br/>
            <a:r>
              <a:t>and D. Should I add Raw/Link for all</a:t>
            </a:r>
            <a:br/>
            <a:r>
              <a:t>three for consistency?</a:t>
            </a:r>
            <a:br/>
            <a:br/>
            <a:r>
              <a:t>→ Add Raw/Link for all three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300" cy="71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F1D27"/>
                </a:solidFill>
              </a:defRPr>
            </a:pPr>
            <a:r>
              <a:t>Practical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1091600" cy="20100"/>
          </a:xfrm>
          <a:prstGeom prst="rect">
            <a:avLst/>
          </a:prstGeom>
          <a:solidFill>
            <a:srgbClr val="8F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2B2B"/>
                </a:solidFill>
              </a:defRPr>
            </a:pPr>
            <a:r>
              <a:t>1.  Write an AGENTS.md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Biggest ROI for AI-assisted development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500" b="1">
                <a:solidFill>
                  <a:srgbClr val="2B2B2B"/>
                </a:solidFill>
              </a:defRPr>
            </a:pPr>
            <a:r>
              <a:t>2.  Use plan mode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Get alignment on approach before code is generated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500" b="1">
                <a:solidFill>
                  <a:srgbClr val="2B2B2B"/>
                </a:solidFill>
              </a:defRPr>
            </a:pPr>
            <a:r>
              <a:t>3.  Iterate on design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Treat it as a conversation, not a one-shot prompt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500" b="1">
                <a:solidFill>
                  <a:srgbClr val="2B2B2B"/>
                </a:solidFill>
              </a:defRPr>
            </a:pPr>
            <a:r>
              <a:t>4.  Review everything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Fast code still needs the same scrutiny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500" b="1">
                <a:solidFill>
                  <a:srgbClr val="2B2B2B"/>
                </a:solidFill>
              </a:defRPr>
            </a:pPr>
            <a:r>
              <a:t>5.  Track plans in the repo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Enables multi-session work and handoffs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  <a:p>
            <a:pPr>
              <a:defRPr sz="1500" b="1">
                <a:solidFill>
                  <a:srgbClr val="2B2B2B"/>
                </a:solidFill>
              </a:defRPr>
            </a:pPr>
            <a:r>
              <a:t>6.  Stay in your domain</a:t>
            </a:r>
          </a:p>
          <a:p>
            <a:pPr>
              <a:defRPr sz="1300" b="0">
                <a:solidFill>
                  <a:srgbClr val="5C5C5C"/>
                </a:solidFill>
              </a:defRPr>
            </a:pPr>
            <a:r>
              <a:t>     The agent is a force multiplier, not a substitute</a:t>
            </a:r>
          </a:p>
          <a:p>
            <a:pPr>
              <a:defRPr sz="800" b="0">
                <a:solidFill>
                  <a:srgbClr val="5C5C5C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C Covers/Title Slides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C1515"/>
      </a:accent1>
      <a:accent2>
        <a:srgbClr val="4198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C Interior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2022-05-19T06:08:41Z</dcterms:created>
  <dc:creator>Kim, Kuktae</dc:creator>
</cp:coreProperties>
</file>